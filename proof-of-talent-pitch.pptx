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457200"/>
            <a:ext cx="1645920" cy="32004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0" y="47548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8EAA"/>
                </a:solidFill>
                <a:latin typeface="Calibri"/>
              </a:rPr>
              <a:t>Solana · SAS · x402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457200"/>
            <a:ext cx="1097280" cy="320040"/>
          </a:xfrm>
          <a:prstGeom prst="roundRect">
            <a:avLst>
              <a:gd name="adj" fmla="val 20000"/>
            </a:avLst>
          </a:prstGeom>
          <a:solidFill>
            <a:srgbClr val="00281E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0" y="47548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96"/>
                </a:solidFill>
                <a:latin typeface="Calibri"/>
              </a:rPr>
              <a:t>LIVE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960120"/>
            <a:ext cx="8869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EF0FF"/>
                </a:solidFill>
                <a:latin typeface="Calibri"/>
              </a:rPr>
              <a:t>Proof of Talent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A8EAA"/>
                </a:solidFill>
                <a:latin typeface="Calibri"/>
              </a:rPr>
              <a:t>The decentralized oracle for verifiable human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4231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E62"/>
                </a:solidFill>
                <a:latin typeface="Calibri"/>
              </a:rPr>
              <a:t>AI audits developer evidence → SAS anchors skill attestations → agents pay $0.001 per lookup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2880360"/>
            <a:ext cx="4297680" cy="411480"/>
          </a:xfrm>
          <a:prstGeom prst="roundRect">
            <a:avLst>
              <a:gd name="adj" fmla="val 20000"/>
            </a:avLst>
          </a:prstGeom>
          <a:solidFill>
            <a:srgbClr val="0D1A38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2898648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B8EF8"/>
                </a:solidFill>
                <a:latin typeface="Calibri"/>
              </a:rPr>
              <a:t>▶  Live Demo — proof-of-talent.vercel.app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3776472"/>
            <a:ext cx="7132320" cy="27432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520440"/>
            <a:ext cx="2011680" cy="109728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93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EF0FF"/>
                </a:solidFill>
                <a:latin typeface="Calibri"/>
              </a:rPr>
              <a:t>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95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EF0FF"/>
                </a:solidFill>
                <a:latin typeface="Calibri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8EAA"/>
                </a:solidFill>
                <a:latin typeface="Calibri"/>
              </a:rPr>
              <a:t>GitHub + Canvas
ZIP exports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520440"/>
            <a:ext cx="2011680" cy="109728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3593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EF0FF"/>
                </a:solidFill>
                <a:latin typeface="Calibri"/>
              </a:rPr>
              <a:t>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995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EF0FF"/>
                </a:solidFill>
                <a:latin typeface="Calibri"/>
              </a:rPr>
              <a:t>AI Oracle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4612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8EAA"/>
                </a:solidFill>
                <a:latin typeface="Calibri"/>
              </a:rPr>
              <a:t>Skill · Confidence
Evidence 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23560" y="3520440"/>
            <a:ext cx="2011680" cy="109728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23560" y="3593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EF0FF"/>
                </a:solidFill>
                <a:latin typeface="Calibri"/>
              </a:rPr>
              <a:t>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3560" y="3995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EF0FF"/>
                </a:solidFill>
                <a:latin typeface="Calibri"/>
              </a:rPr>
              <a:t>SAS + ZK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8EAA"/>
                </a:solidFill>
                <a:latin typeface="Calibri"/>
              </a:rPr>
              <a:t>On-chain attestation
ZK-privacy layer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01000" y="3520440"/>
            <a:ext cx="2011680" cy="109728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59359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EF0FF"/>
                </a:solidFill>
                <a:latin typeface="Calibri"/>
              </a:rPr>
              <a:t>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995928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EEF0FF"/>
                </a:solidFill>
                <a:latin typeface="Calibri"/>
              </a:rPr>
              <a:t>x402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2519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8EAA"/>
                </a:solidFill>
                <a:latin typeface="Calibri"/>
              </a:rPr>
              <a:t>Machine-readable
micropayment-gated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4E62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F"/>
                </a:solidFill>
                <a:latin typeface="Calibri"/>
              </a:rPr>
              <a:t>Academic signals are noisy, unstandardised
proxies for actual skill.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64208"/>
            <a:ext cx="457200" cy="27432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5029200" cy="4206240"/>
          </a:xfrm>
          <a:prstGeom prst="roundRect">
            <a:avLst>
              <a:gd name="adj" fmla="val 20000"/>
            </a:avLst>
          </a:prstGeom>
          <a:solidFill>
            <a:srgbClr val="1A1010"/>
          </a:solidFill>
          <a:ln w="9525">
            <a:solidFill>
              <a:srgbClr val="F1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965960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15B5B"/>
                </a:solidFill>
                <a:latin typeface="Calibri"/>
              </a:rPr>
              <a:t>THE VALIDITY PROBLEM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267712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BB"/>
                </a:solidFill>
                <a:latin typeface="Calibri"/>
              </a:rPr>
              <a:t>•  Degrees measure compliance — not competence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926080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BB"/>
                </a:solidFill>
                <a:latin typeface="Calibri"/>
              </a:rPr>
              <a:t>•  Credentials locked in institutional silos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584448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BB"/>
                </a:solidFill>
                <a:latin typeface="Calibri"/>
              </a:rPr>
              <a:t>•  Manual verification: $40–$200 per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242816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BB"/>
                </a:solidFill>
                <a:latin typeface="Calibri"/>
              </a:rPr>
              <a:t>•  AI agents can't query unstructured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4901183"/>
            <a:ext cx="4663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BBBB"/>
                </a:solidFill>
                <a:latin typeface="Calibri"/>
              </a:rPr>
              <a:t>•  No cheap API-native trust primitive exists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828800"/>
            <a:ext cx="5650992" cy="1920240"/>
          </a:xfrm>
          <a:prstGeom prst="roundRect">
            <a:avLst>
              <a:gd name="adj" fmla="val 20000"/>
            </a:avLst>
          </a:prstGeom>
          <a:solidFill>
            <a:srgbClr val="0D1228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2" y="19659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EF8"/>
                </a:solidFill>
                <a:latin typeface="Calibri"/>
              </a:rPr>
              <a:t>THE COST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22402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15B5B"/>
                </a:solidFill>
                <a:latin typeface="Calibri"/>
              </a:rPr>
              <a:t>$40–$200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7889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cost per background check
(Checkr / Sterling / HireRight)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240280"/>
            <a:ext cx="27432" cy="1097280"/>
          </a:xfrm>
          <a:prstGeom prst="rect">
            <a:avLst/>
          </a:prstGeom>
          <a:solidFill>
            <a:srgbClr val="22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224028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C896"/>
                </a:solidFill>
                <a:latin typeface="Calibri"/>
              </a:rPr>
              <a:t>$0.001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7889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our API lookup fee
75% gross margin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931920"/>
            <a:ext cx="5650992" cy="210312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08192" y="40690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8EAA"/>
                </a:solidFill>
                <a:latin typeface="Calibri"/>
              </a:rPr>
              <a:t>THE MACHINE SCREENING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08192" y="4370832"/>
            <a:ext cx="53218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EAA"/>
                </a:solidFill>
                <a:latin typeface="Calibri"/>
              </a:rPr>
              <a:t>AI recruiting agents evaluate 100,000 candidates overnight — but cannot trust any claim they read. There is no structured, machine-readable skill primitive they can query programmatically.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4E62"/>
                </a:solidFill>
                <a:latin typeface="Calibri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F"/>
                </a:solidFill>
                <a:latin typeface="Calibri"/>
              </a:rPr>
              <a:t>Four forces converged. The window is this year.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444752"/>
            <a:ext cx="457200" cy="27432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645920"/>
            <a:ext cx="5486400" cy="214884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8EF8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0FF"/>
                </a:solidFill>
                <a:latin typeface="Calibri"/>
              </a:rPr>
              <a:t>AI agents now handle hiring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Automated screening went from 'nice to have' to default in 2025. Agent-to-agent hiring is real. They need trust primitives machines can query.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5486400" cy="214884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8EF8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40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0FF"/>
                </a:solidFill>
                <a:latin typeface="Calibri"/>
              </a:rPr>
              <a:t>Solana Attestation Service launched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0604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SAS provides a native, interoperable on-chain credential layer with composable schemas — this infrastructure didn't exist 18 months ago.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977639"/>
            <a:ext cx="5486400" cy="214884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114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8EF8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0FF"/>
                </a:solidFill>
                <a:latin typeface="Calibri"/>
              </a:rPr>
              <a:t>Micropayments at machine scale are viable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37759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Solana's parallel tx engine makes $0.001-per-lookup viable at 75% gross margin. x402 brings HTTP-native monetisation to APIs.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977639"/>
            <a:ext cx="5486400" cy="214884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411480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B8EF8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72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0FF"/>
                </a:solidFill>
                <a:latin typeface="Calibri"/>
              </a:rPr>
              <a:t>Public artifacts are the primary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937759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GitHub history and Canvas course submissions are the most honest technical evidence available — queryable, unfiltered, student-initiated.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4E62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F"/>
                </a:solidFill>
                <a:latin typeface="Calibri"/>
              </a:rPr>
              <a:t>Raw artifacts → sovereign, verifiable,
machine-readable skill proof.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64208"/>
            <a:ext cx="457200" cy="27432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828800"/>
            <a:ext cx="2651760" cy="329184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2651760" cy="45720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EF8"/>
                </a:solidFill>
                <a:latin typeface="Calibri"/>
              </a:rPr>
              <a:t>01 / 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EF0FF"/>
                </a:solidFill>
                <a:latin typeface="Calibri"/>
              </a:rPr>
              <a:t>Multi-source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GitHub repos, PRs, commit history. Canvas ZIP course exports. Any structured artifact a student initiates — not what an institution certifies.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8" y="1828800"/>
            <a:ext cx="2651760" cy="329184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828800"/>
            <a:ext cx="2651760" cy="45720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9385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B8EF8"/>
                </a:solidFill>
                <a:latin typeface="Calibri"/>
              </a:rPr>
              <a:t>02 / INFER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1762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EF0FF"/>
                </a:solidFill>
                <a:latin typeface="Calibri"/>
              </a:rPr>
              <a:t>AI skill oracle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60604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LLM interprets raw evidence. Outputs skill slug, confidence score, evidence summary. Bypasses institutional single points of failure.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216" y="1828800"/>
            <a:ext cx="2651760" cy="329184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0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216" y="1828800"/>
            <a:ext cx="2651760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19385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96"/>
                </a:solidFill>
                <a:latin typeface="Calibri"/>
              </a:rPr>
              <a:t>03 / ANCHOR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1762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EF0FF"/>
                </a:solidFill>
                <a:latin typeface="Calibri"/>
              </a:rPr>
              <a:t>SAS + ZK-privacy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60604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Claims written via Solana Attestation Service. ZK-privacy layer protects raw evidence. Optimistic dispute mechanism with staked proofs for re-evaluation.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53144" y="1828800"/>
            <a:ext cx="2651760" cy="329184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0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53144" y="1828800"/>
            <a:ext cx="2651760" cy="4572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19385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C896"/>
                </a:solidFill>
                <a:latin typeface="Calibri"/>
              </a:rPr>
              <a:t>04 / SERVE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21762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EF0FF"/>
                </a:solidFill>
                <a:latin typeface="Calibri"/>
              </a:rPr>
              <a:t>x402 verification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606040"/>
            <a:ext cx="23774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Profile lookup (free). Basic verify $0.001. Premium verify $0.005 with ZK proof. Payment-gated via x402 stablecoin — native to AI agents.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5230368"/>
            <a:ext cx="10972800" cy="1325880"/>
          </a:xfrm>
          <a:prstGeom prst="roundRect">
            <a:avLst>
              <a:gd name="adj" fmla="val 20000"/>
            </a:avLst>
          </a:prstGeom>
          <a:solidFill>
            <a:srgbClr val="07080F"/>
          </a:solidFill>
          <a:ln w="9525">
            <a:solidFill>
              <a:srgbClr val="4A4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321808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8EC8"/>
                </a:solidFill>
                <a:latin typeface="Courier New"/>
              </a:rPr>
              <a:t>{ "skill": "rust",  "confidence": 0.91,  "evidence": "14 Rust repos · Anchor framework · 847 commits",
  "sasAttestation": "3xY8...k9mP",  "zkProof": "groth16:Ax7B...",  "sovereign": true  // wallet-bound, portable 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4E62"/>
                </a:solidFill>
                <a:latin typeface="Calibr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EF0FF"/>
                </a:solidFill>
                <a:latin typeface="Calibri"/>
              </a:rPr>
              <a:t>One endpoint for breadth. Paid depth on demand.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457200" cy="27432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63040"/>
            <a:ext cx="3611880" cy="384048"/>
          </a:xfrm>
          <a:prstGeom prst="roundRect">
            <a:avLst>
              <a:gd name="adj" fmla="val 20000"/>
            </a:avLst>
          </a:prstGeom>
          <a:solidFill>
            <a:srgbClr val="121424"/>
          </a:solidFill>
          <a:ln w="9525">
            <a:solidFill>
              <a:srgbClr val="3A5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508760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A5EC8"/>
                </a:solidFill>
                <a:latin typeface="Calibri"/>
              </a:rPr>
              <a:t>👤  Student / Developer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0D1A38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202996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8EF8"/>
                </a:solidFill>
                <a:latin typeface="Calibri"/>
              </a:rPr>
              <a:t>Submit GitHub + wallet address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5176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4A4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76148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Oracle processes in background…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38328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0D1A38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49300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8EF8"/>
                </a:solidFill>
                <a:latin typeface="Calibri"/>
              </a:rPr>
              <a:t>Receive SAS attestation + explorer link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11480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4A4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22452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Profile: sovereign, portable, queryable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84632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1A1405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495604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Dispute: stake SOL to challenge a claim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07408" y="1463040"/>
            <a:ext cx="3611880" cy="384048"/>
          </a:xfrm>
          <a:prstGeom prst="roundRect">
            <a:avLst>
              <a:gd name="adj" fmla="val 20000"/>
            </a:avLst>
          </a:prstGeom>
          <a:solidFill>
            <a:srgbClr val="121424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7136" y="1508760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B8EF8"/>
                </a:solidFill>
                <a:latin typeface="Calibri"/>
              </a:rPr>
              <a:t>⚙️  Proof of Talent Oracle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192024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0D1A38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35424" y="202996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8EF8"/>
                </a:solidFill>
                <a:latin typeface="Calibri"/>
              </a:rPr>
              <a:t>Fetch GitHub repos · PRs · commits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07408" y="265176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0D1A38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5424" y="276148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8EF8"/>
                </a:solidFill>
                <a:latin typeface="Calibri"/>
              </a:rPr>
              <a:t>Fetch Canvas ZIP exports (if provided)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7408" y="338328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0D1A38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5424" y="349300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8EF8"/>
                </a:solidFill>
                <a:latin typeface="Calibri"/>
              </a:rPr>
              <a:t>LLM scores skill · confidence ·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07408" y="411480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0D1A38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422452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8EF8"/>
                </a:solidFill>
                <a:latin typeface="Calibri"/>
              </a:rPr>
              <a:t>Write SAS attestation to Solana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8" y="484632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0D1A38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35424" y="495604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B8EF8"/>
                </a:solidFill>
                <a:latin typeface="Calibri"/>
              </a:rPr>
              <a:t>ZK-proof generated · raw data private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07408" y="557784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1A1405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35424" y="568756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9E0B"/>
                </a:solidFill>
                <a:latin typeface="Calibri"/>
              </a:rPr>
              <a:t>Optimistic dispute: re-evaluate on stake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0456" y="1463040"/>
            <a:ext cx="3611880" cy="384048"/>
          </a:xfrm>
          <a:prstGeom prst="roundRect">
            <a:avLst>
              <a:gd name="adj" fmla="val 20000"/>
            </a:avLst>
          </a:prstGeom>
          <a:solidFill>
            <a:srgbClr val="121424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3" y="1508760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896"/>
                </a:solidFill>
                <a:latin typeface="Calibri"/>
              </a:rPr>
              <a:t>🤖  Recruiter / AI Agent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0456" y="192024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052018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48472" y="202996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896"/>
                </a:solidFill>
                <a:latin typeface="Calibri"/>
              </a:rPr>
              <a:t>GET /api/profile/:wallet → skill map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0456" y="265176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4A4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2" y="276148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Free. Filter candidates at breadth.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338328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200808"/>
          </a:solidFill>
          <a:ln w="9525">
            <a:solidFill>
              <a:srgbClr val="F1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2" y="349300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15B5B"/>
                </a:solidFill>
                <a:latin typeface="Calibri"/>
              </a:rPr>
              <a:t>GET /api/verify → 402 Payment Required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0456" y="411480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4A4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2" y="422452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x402: $0.001 basic · $0.005 ZK-backed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0456" y="4846320"/>
            <a:ext cx="3611880" cy="658368"/>
          </a:xfrm>
          <a:prstGeom prst="roundRect">
            <a:avLst>
              <a:gd name="adj" fmla="val 20000"/>
            </a:avLst>
          </a:prstGeom>
          <a:solidFill>
            <a:srgbClr val="052018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48472" y="4956048"/>
            <a:ext cx="33558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896"/>
                </a:solidFill>
                <a:latin typeface="Calibri"/>
              </a:rPr>
              <a:t>verified: true + evidence + SAS tx 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4E62"/>
                </a:solidFill>
                <a:latin typeface="Calibri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0FF"/>
                </a:solidFill>
                <a:latin typeface="Calibri"/>
              </a:rPr>
              <a:t>Infrastructure economics: revenue scales with AI adoption.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457200" cy="27432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5303520" cy="1078992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81328"/>
            <a:ext cx="45720" cy="107899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0FF"/>
                </a:solidFill>
                <a:latin typeface="Calibri"/>
              </a:rPr>
              <a:t>Basic Verify · x402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57276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0C896"/>
                </a:solidFill>
                <a:latin typeface="Calibri"/>
              </a:rPr>
              <a:t>$0.001 /call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202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Per-call stablecoin · 75% gross margin · $0.00025 tx cost · 30,000× cheaper than Checkr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70048"/>
            <a:ext cx="5303520" cy="1078992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670048"/>
            <a:ext cx="45720" cy="1078992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76148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0FF"/>
                </a:solidFill>
                <a:latin typeface="Calibri"/>
              </a:rPr>
              <a:t>Premium Verify · ZK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76148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0C896"/>
                </a:solidFill>
                <a:latin typeface="Calibri"/>
              </a:rPr>
              <a:t>$0.005 /call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1089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Full evidence chain + ZK proof + dispute guarantee · 95% gross margin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58768"/>
            <a:ext cx="5303520" cy="1078992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858768"/>
            <a:ext cx="45720" cy="1078992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9502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0FF"/>
                </a:solidFill>
                <a:latin typeface="Calibri"/>
              </a:rPr>
              <a:t>Recruiter SaaS Plans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5020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5B8EF8"/>
                </a:solidFill>
                <a:latin typeface="Calibri"/>
              </a:rPr>
              <a:t>$499–$9,999/mo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29768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Team quotas · ATS integrations · analytics · enterprise custom schemas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047488"/>
            <a:ext cx="5303520" cy="1078992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222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5047488"/>
            <a:ext cx="45720" cy="10789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51389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0FF"/>
                </a:solidFill>
                <a:latin typeface="Calibri"/>
              </a:rPr>
              <a:t>Issuer Plans + Disputes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513892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F59E0B"/>
                </a:solidFill>
                <a:latin typeface="Calibri"/>
              </a:rPr>
              <a:t>$999/mo +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864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Bootcamps/universities issue attestations · 10% protocol cut on challenged claims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481328"/>
            <a:ext cx="5376672" cy="5029200"/>
          </a:xfrm>
          <a:prstGeom prst="roundRect">
            <a:avLst>
              <a:gd name="adj" fmla="val 20000"/>
            </a:avLst>
          </a:prstGeom>
          <a:solidFill>
            <a:srgbClr val="0D1A38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600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F0FF"/>
                </a:solidFill>
                <a:latin typeface="Calibri"/>
              </a:rPr>
              <a:t>Revenue at Machine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92024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A8EAA"/>
                </a:solidFill>
                <a:latin typeface="Calibri"/>
              </a:rPr>
              <a:t>@ $0.001 base · 75% gross margin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2677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4E62"/>
                </a:solidFill>
                <a:latin typeface="Calibri"/>
              </a:rPr>
              <a:t>Verifications/Day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22677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A4E62"/>
                </a:solidFill>
                <a:latin typeface="Calibri"/>
              </a:rPr>
              <a:t>API 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26771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A4E62"/>
                </a:solidFill>
                <a:latin typeface="Calibri"/>
              </a:rPr>
              <a:t>+ SaaS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99648" y="2267712"/>
            <a:ext cx="594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A4E62"/>
                </a:solidFill>
                <a:latin typeface="Calibri"/>
              </a:rPr>
              <a:t>ARR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542032"/>
            <a:ext cx="5120640" cy="18288"/>
          </a:xfrm>
          <a:prstGeom prst="rect">
            <a:avLst/>
          </a:prstGeom>
          <a:solidFill>
            <a:srgbClr val="22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2651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8EAA"/>
                </a:solidFill>
                <a:latin typeface="Calibri"/>
              </a:rPr>
              <a:t>1,000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651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8A8EAA"/>
                </a:solidFill>
                <a:latin typeface="Calibri"/>
              </a:rPr>
              <a:t>$365K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12096" y="2651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A8EAA"/>
                </a:solidFill>
                <a:latin typeface="Calibri"/>
              </a:rPr>
              <a:t>$240K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2651760"/>
            <a:ext cx="621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EEF0FF"/>
                </a:solidFill>
                <a:latin typeface="Calibri"/>
              </a:rPr>
              <a:t>$605K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218688"/>
            <a:ext cx="5102352" cy="13716"/>
          </a:xfrm>
          <a:prstGeom prst="rect">
            <a:avLst/>
          </a:prstGeom>
          <a:solidFill>
            <a:srgbClr val="22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749039"/>
            <a:ext cx="5102352" cy="1051560"/>
          </a:xfrm>
          <a:prstGeom prst="roundRect">
            <a:avLst>
              <a:gd name="adj" fmla="val 20000"/>
            </a:avLst>
          </a:prstGeom>
          <a:solidFill>
            <a:srgbClr val="0D2248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822191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EF0FF"/>
                </a:solidFill>
                <a:latin typeface="Calibri"/>
              </a:rPr>
              <a:t>10,000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3822191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EEF0FF"/>
                </a:solidFill>
                <a:latin typeface="Calibri"/>
              </a:rPr>
              <a:t>$3.65M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12096" y="3822191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EEF0FF"/>
                </a:solidFill>
                <a:latin typeface="Calibri"/>
              </a:rPr>
              <a:t>$960K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3822191"/>
            <a:ext cx="621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00C896"/>
                </a:solidFill>
                <a:latin typeface="Calibri"/>
              </a:rPr>
              <a:t>~$4.6M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99262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A8EAA"/>
                </a:solidFill>
                <a:latin typeface="Calibri"/>
              </a:rPr>
              <a:t>100,000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99262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8A8EAA"/>
                </a:solidFill>
                <a:latin typeface="Calibri"/>
              </a:rPr>
              <a:t>$36.5M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12096" y="499262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A8EAA"/>
                </a:solidFill>
                <a:latin typeface="Calibri"/>
              </a:rPr>
              <a:t>$3.6M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4992624"/>
            <a:ext cx="621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EEF0FF"/>
                </a:solidFill>
                <a:latin typeface="Calibri"/>
              </a:rPr>
              <a:t>~$40M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5559552"/>
            <a:ext cx="5102352" cy="13716"/>
          </a:xfrm>
          <a:prstGeom prst="rect">
            <a:avLst/>
          </a:prstGeom>
          <a:solidFill>
            <a:srgbClr val="222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617220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A4E62"/>
                </a:solidFill>
                <a:latin typeface="Calibri"/>
              </a:rPr>
              <a:t>▲ Gross margin: 75% basic · 95% premium     ▲ Checkr: $29.99/check — we're 30,000× cheaper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4E62"/>
                </a:solidFill>
                <a:latin typeface="Calibri"/>
              </a:rPr>
              <a:t>PRODUCT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EF0FF"/>
                </a:solidFill>
                <a:latin typeface="Calibri"/>
              </a:rPr>
              <a:t>Core loop works today. Roadmap upgrades trust guarantees.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307592"/>
            <a:ext cx="457200" cy="27432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463040" cy="329184"/>
          </a:xfrm>
          <a:prstGeom prst="roundRect">
            <a:avLst>
              <a:gd name="adj" fmla="val 20000"/>
            </a:avLst>
          </a:prstGeom>
          <a:solidFill>
            <a:srgbClr val="00281E"/>
          </a:solidFill>
          <a:ln w="9525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087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896"/>
                </a:solidFill>
                <a:latin typeface="Calibri"/>
              </a:rPr>
              <a:t>● LIVE MVP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920240"/>
            <a:ext cx="5303520" cy="749808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0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920240"/>
            <a:ext cx="45720" cy="7498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96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848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0FF"/>
                </a:solidFill>
                <a:latin typeface="Calibri"/>
              </a:rPr>
              <a:t>GitHub evidence ingestion + parsing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88920"/>
            <a:ext cx="5303520" cy="749808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0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788920"/>
            <a:ext cx="45720" cy="7498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97180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96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535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0FF"/>
                </a:solidFill>
                <a:latin typeface="Calibri"/>
              </a:rPr>
              <a:t>AI skill inference (Anthropic / OpenRouter)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657600"/>
            <a:ext cx="5303520" cy="749808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0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657600"/>
            <a:ext cx="45720" cy="7498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404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96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2219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0FF"/>
                </a:solidFill>
                <a:latin typeface="Calibri"/>
              </a:rPr>
              <a:t>On-chain proof anchor (Solana memo tx)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526279"/>
            <a:ext cx="5303520" cy="749808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0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4526279"/>
            <a:ext cx="45720" cy="7498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0915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96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690871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0FF"/>
                </a:solidFill>
                <a:latin typeface="Calibri"/>
              </a:rPr>
              <a:t>Profile + verify API endpoints live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5394960"/>
            <a:ext cx="5303520" cy="749808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004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5394960"/>
            <a:ext cx="45720" cy="74980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96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5595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EF0FF"/>
                </a:solidFill>
                <a:latin typeface="Calibri"/>
              </a:rPr>
              <a:t>402 payment-gated flow in demo 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1481328"/>
            <a:ext cx="1828800" cy="329184"/>
          </a:xfrm>
          <a:prstGeom prst="roundRect">
            <a:avLst>
              <a:gd name="adj" fmla="val 20000"/>
            </a:avLst>
          </a:prstGeom>
          <a:solidFill>
            <a:srgbClr val="0D1A38"/>
          </a:solidFill>
          <a:ln w="9525">
            <a:solidFill>
              <a:srgbClr val="5B8E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1508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B8EF8"/>
                </a:solidFill>
                <a:latin typeface="Calibri"/>
              </a:rPr>
              <a:t>→ NEXT MILESTONES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91072" y="1920240"/>
            <a:ext cx="5303520" cy="96012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1A3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91072" y="1920240"/>
            <a:ext cx="45720" cy="960120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202996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0FF"/>
                </a:solidFill>
                <a:latin typeface="Calibri"/>
              </a:rPr>
              <a:t>Full SAS issuance lifecycle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39572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Schema · Credential · Attestation — fully interoperable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91072" y="3035808"/>
            <a:ext cx="5303520" cy="96012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1A3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91072" y="3035808"/>
            <a:ext cx="45720" cy="960120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145536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0FF"/>
                </a:solidFill>
                <a:latin typeface="Calibri"/>
              </a:rPr>
              <a:t>Canvas ZIP ingestion pipeline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351129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Course submissions · grades · institutional artifacts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1072" y="4151376"/>
            <a:ext cx="5303520" cy="96012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1A3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91072" y="4151376"/>
            <a:ext cx="45720" cy="960120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261104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0FF"/>
                </a:solidFill>
                <a:latin typeface="Calibri"/>
              </a:rPr>
              <a:t>ZK-privacy layer + dispute mechanism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626864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Raw evidence protected · staked proofs for re-evaluation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91072" y="5266944"/>
            <a:ext cx="5303520" cy="960120"/>
          </a:xfrm>
          <a:prstGeom prst="roundRect">
            <a:avLst>
              <a:gd name="adj" fmla="val 20000"/>
            </a:avLst>
          </a:prstGeom>
          <a:solidFill>
            <a:srgbClr val="141520"/>
          </a:solidFill>
          <a:ln w="9525">
            <a:solidFill>
              <a:srgbClr val="1A3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91072" y="5266944"/>
            <a:ext cx="45720" cy="960120"/>
          </a:xfrm>
          <a:prstGeom prst="rect">
            <a:avLst/>
          </a:prstGeom>
          <a:solidFill>
            <a:srgbClr val="5B8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537667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F0FF"/>
                </a:solidFill>
                <a:latin typeface="Calibri"/>
              </a:rPr>
              <a:t>Production indexer + hardened x402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742431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EAA"/>
                </a:solidFill>
                <a:latin typeface="Calibri"/>
              </a:rPr>
              <a:t>Postgres · chain indexer · amount/recipient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